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6b39bccba4f1b" /><Relationship Type="http://schemas.openxmlformats.org/officeDocument/2006/relationships/extended-properties" Target="/docProps/app.xml" Id="R536cb3dc1fdc48e0" /><Relationship Type="http://schemas.openxmlformats.org/officeDocument/2006/relationships/officeDocument" Target="/ppt/presentation.xml" Id="R5cba7c3d4e5743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a67be16ddd43a8"/>
  </p:sldMasterIdLst>
  <p:notesMasterIdLst>
    <p:notesMasterId xmlns:r="http://schemas.openxmlformats.org/officeDocument/2006/relationships" r:id="Rd1abef7dd629409b"/>
  </p:notesMasterIdLst>
  <p:sldIdLst>
    <p:sldId xmlns:r="http://schemas.openxmlformats.org/officeDocument/2006/relationships" id="256" r:id="R8463896cd8d74ef7"/>
    <p:sldId xmlns:r="http://schemas.openxmlformats.org/officeDocument/2006/relationships" id="257" r:id="Rcea7111aad23470d"/>
    <p:sldId xmlns:r="http://schemas.openxmlformats.org/officeDocument/2006/relationships" id="258" r:id="R38568140e1c0431e"/>
    <p:sldId xmlns:r="http://schemas.openxmlformats.org/officeDocument/2006/relationships" id="259" r:id="R3ccf3b93a96a4a8a"/>
    <p:sldId xmlns:r="http://schemas.openxmlformats.org/officeDocument/2006/relationships" id="260" r:id="R4620afbe6ebb451d"/>
    <p:sldId xmlns:r="http://schemas.openxmlformats.org/officeDocument/2006/relationships" id="261" r:id="Rfef33264399d44e9"/>
    <p:sldId xmlns:r="http://schemas.openxmlformats.org/officeDocument/2006/relationships" id="262" r:id="Rc287b2e4bda0445b"/>
    <p:sldId xmlns:r="http://schemas.openxmlformats.org/officeDocument/2006/relationships" id="263" r:id="Rf80ff96e3c624547"/>
    <p:sldId xmlns:r="http://schemas.openxmlformats.org/officeDocument/2006/relationships" id="264" r:id="R9cc843ee6f1d41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60df88e084844" /><Relationship Type="http://schemas.openxmlformats.org/officeDocument/2006/relationships/slideMaster" Target="/ppt/slideMasters/slideMaster1.xml" Id="R5ca67be16ddd43a8" /><Relationship Type="http://schemas.openxmlformats.org/officeDocument/2006/relationships/notesMaster" Target="/ppt/notesMasters/notesMaster1.xml" Id="Rd1abef7dd629409b" /><Relationship Type="http://schemas.openxmlformats.org/officeDocument/2006/relationships/presProps" Target="/ppt/presProps.xml" Id="Rf33d31fd9be740e3" /><Relationship Type="http://schemas.openxmlformats.org/officeDocument/2006/relationships/tableStyles" Target="/ppt/tableStyles.xml" Id="R4b1f7a0cc1164e05" /><Relationship Type="http://schemas.openxmlformats.org/officeDocument/2006/relationships/slide" Target="/ppt/slides/slide1.xml" Id="R8463896cd8d74ef7" /><Relationship Type="http://schemas.openxmlformats.org/officeDocument/2006/relationships/slide" Target="/ppt/slides/slide2.xml" Id="Rcea7111aad23470d" /><Relationship Type="http://schemas.openxmlformats.org/officeDocument/2006/relationships/slide" Target="/ppt/slides/slide3.xml" Id="R38568140e1c0431e" /><Relationship Type="http://schemas.openxmlformats.org/officeDocument/2006/relationships/slide" Target="/ppt/slides/slide4.xml" Id="R3ccf3b93a96a4a8a" /><Relationship Type="http://schemas.openxmlformats.org/officeDocument/2006/relationships/slide" Target="/ppt/slides/slide5.xml" Id="R4620afbe6ebb451d" /><Relationship Type="http://schemas.openxmlformats.org/officeDocument/2006/relationships/slide" Target="/ppt/slides/slide6.xml" Id="Rfef33264399d44e9" /><Relationship Type="http://schemas.openxmlformats.org/officeDocument/2006/relationships/slide" Target="/ppt/slides/slide7.xml" Id="Rc287b2e4bda0445b" /><Relationship Type="http://schemas.openxmlformats.org/officeDocument/2006/relationships/slide" Target="/ppt/slides/slide8.xml" Id="Rf80ff96e3c624547" /><Relationship Type="http://schemas.openxmlformats.org/officeDocument/2006/relationships/slide" Target="/ppt/slides/slide9.xml" Id="R9cc843ee6f1d41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c74b0a5ae6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4cefe994f94691" /><Relationship Type="http://schemas.openxmlformats.org/officeDocument/2006/relationships/notesMaster" Target="/ppt/notesMasters/notesMaster1.xml" Id="R0e77f6ad01d149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46ec45d3d74247" /><Relationship Type="http://schemas.openxmlformats.org/officeDocument/2006/relationships/notesMaster" Target="/ppt/notesMasters/notesMaster1.xml" Id="R56a3064a404f49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e2a7140c2f4e1d" /><Relationship Type="http://schemas.openxmlformats.org/officeDocument/2006/relationships/notesMaster" Target="/ppt/notesMasters/notesMaster1.xml" Id="R83630372cc2d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67f6f82bed4b9c" /><Relationship Type="http://schemas.openxmlformats.org/officeDocument/2006/relationships/notesMaster" Target="/ppt/notesMasters/notesMaster1.xml" Id="Rd55556e3b0a84a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1446da9bec4f07" /><Relationship Type="http://schemas.openxmlformats.org/officeDocument/2006/relationships/notesMaster" Target="/ppt/notesMasters/notesMaster1.xml" Id="R6dde11c1a02443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6f5b181dd34e57" /><Relationship Type="http://schemas.openxmlformats.org/officeDocument/2006/relationships/notesMaster" Target="/ppt/notesMasters/notesMaster1.xml" Id="R722f1bbb76a844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d017219a8b4235" /><Relationship Type="http://schemas.openxmlformats.org/officeDocument/2006/relationships/notesMaster" Target="/ppt/notesMasters/notesMaster1.xml" Id="Rd43ffd321ed847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3389b9b2f04f60" /><Relationship Type="http://schemas.openxmlformats.org/officeDocument/2006/relationships/notesMaster" Target="/ppt/notesMasters/notesMaster1.xml" Id="R34c43b16352148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bff67ad49d4ca8" /><Relationship Type="http://schemas.openxmlformats.org/officeDocument/2006/relationships/notesMaster" Target="/ppt/notesMasters/notesMaster1.xml" Id="Rfc2ac596f95147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project. Market reference 19 October 2026, balance sheet 30 September 2026. Inputs and all limitations are detailed in VISTA_Methodology.pdf and model_inputs.json.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model Base case: DCF 79.79174140792273, relative 209.0726266232373, blend 152.31737013010658. Price source: https://stockanalysis.com/quote/idx/DEWA/history/. Issued shares: https://web.ksei.co.id/services/registered-securities/shares/lc/DEWA?setLocale=en-US. Fully issued denominator includes treasury shares. These are assumptions, not verified investment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FY2025 audited statements, physical PDF p29, p81 and p120. Normalized EBIT = revenue minus cost of sales, SG&amp;A and final tax. The table is a bridge to other income, not to reported net profit. All amounts IDR billion.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FY2025 audited PDF p73-80; corrected Q2 PDF p1; Q3 PDF p22-23. All physical page numbers retained in source_inputs.csv. 187 extracted inputs. Original and restated values kept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VISTA DCF engine and Excel active Base forecast. Revenue is 9M2026 times 4/3, not management guidance. WACC 14%, terminal growth 3.5%, terminal ROIC 15%. End-year discounting. Noncash lease capex 0.5% of sales.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PTRO: https://stockanalysis.com/quote/idx/PTRO/financials/ratios/; business fit: https://petrosea.com/wp-content/uploads/2025/04/Press-Release-Results-of-PT-Petrosea-Tbk-General-Meeting-of-Shareholders.pdf</a:t>
            </a:r>
          </a:p>
          <a:p xmlns:a="http://schemas.openxmlformats.org/drawingml/2006/main">
            <a:r>
              <a:t>MYOH: https://stockanalysis.com/quote/idx/MYOH/financials/ratios/; business fit: https://samindoresources.com/</a:t>
            </a:r>
          </a:p>
          <a:p xmlns:a="http://schemas.openxmlformats.org/drawingml/2006/main">
            <a:r>
              <a:t>DOID: https://stockanalysis.com/quote/idx/DOID/financials/ratios/; business fit: https://bumainternational.com/our-business</a:t>
            </a:r>
          </a:p>
          <a:p xmlns:a="http://schemas.openxmlformats.org/drawingml/2006/main">
            <a:r>
              <a:t>UNIQ: https://stockanalysis.com/quote/idx/UNIQ/financials/ratios/; business fit: https://www.ulimanitra.co.id/?halaman=ongp</a:t>
            </a:r>
          </a:p>
          <a:p xmlns:a="http://schemas.openxmlformats.org/drawingml/2006/main">
            <a:r>
              <a:t>UNTR: https://stockanalysis.com/quote/idx/UNTR/financials/ratios/; business fit: https://www.unitedtractors.com/en/quarterly-report/</a:t>
            </a:r>
          </a:p>
          <a:p xmlns:a="http://schemas.openxmlformats.org/drawingml/2006/main">
            <a:r>
              <a:t>Vendor Current/TTM, rounded and not fully harmonized for lease perimeter, reporting dates or one-offs. Core multiple median uses first four peers. UNTR is excluded by default.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VISTA engine results.json. Saved scenarios use 25/50/25% assumed probabilities. Values include scenario asset and investment recovery and adaptive method weights. Forecast inputs are analyst assumptions. Market price is 242 IDR/share on 19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engine.py assess and monte_carlo. Analyst rule-based suitability, not calibrated probabilities. DCF score 52.4, peer 67.0. Blend 43.9%/56.1%. Confidence 33.6 after method disagreement and unresolved-data penalty. Monte Carlo deterministic seed 42, 2000 draws.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reports and VISTA scenario analysis. Related-party sales 95.49% in FY2025 audited PDF p119. Capex ratio normalization and exploration recovery are analyst assumptions. Recommended verification items are research priorities, not claims that catalysts will occur.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22979698b4c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e27231f0a48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4100a6c9e42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7723e670c46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f43a1d4174e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e16fc6e1241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68EE56-7346-41F0-B942-E4629C00F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391311-6F12-4590-8CDF-C557E0ADDB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0FFDD3-9E76-4441-A2D7-E00C8F8446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15C5BF-D9FD-4D9D-B3B2-CC1FAB0B3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A64076-4B3A-485C-9B22-24C80EF498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40FB19-2D90-47A3-A54D-464F32D15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202B4E-1134-4DD9-B7AC-AE30BD0791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BABACC-8C47-4B50-90DB-8D9A365293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8E447-BECD-4C19-85FF-33C806B67B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5A400F-3D1A-4506-AD18-3095E33EE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2983fac6774575" /><Relationship Type="http://schemas.openxmlformats.org/officeDocument/2006/relationships/slideLayout" Target="/ppt/slideLayouts/slideLayout1.xml" Id="R3b3c0c52385b48e6" /><Relationship Type="http://schemas.openxmlformats.org/officeDocument/2006/relationships/slideLayout" Target="/ppt/slideLayouts/slideLayout2.xml" Id="R5ce1803b68e84f69" /><Relationship Type="http://schemas.openxmlformats.org/officeDocument/2006/relationships/slideLayout" Target="/ppt/slideLayouts/slideLayout3.xml" Id="R69ae95e81dec4240" /><Relationship Type="http://schemas.openxmlformats.org/officeDocument/2006/relationships/slideLayout" Target="/ppt/slideLayouts/slideLayout4.xml" Id="Rb3e1043f42e048eb" /><Relationship Type="http://schemas.openxmlformats.org/officeDocument/2006/relationships/slideLayout" Target="/ppt/slideLayouts/slideLayout5.xml" Id="Rb90f07de5b2e4b66" /><Relationship Type="http://schemas.openxmlformats.org/officeDocument/2006/relationships/slideLayout" Target="/ppt/slideLayouts/slideLayout6.xml" Id="Rb8bffe61435e4b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3c0c52385b48e6"/>
    <p:sldLayoutId xmlns:r="http://schemas.openxmlformats.org/officeDocument/2006/relationships" id="2147483650" r:id="R5ce1803b68e84f69"/>
    <p:sldLayoutId xmlns:r="http://schemas.openxmlformats.org/officeDocument/2006/relationships" id="2147483651" r:id="R69ae95e81dec4240"/>
    <p:sldLayoutId xmlns:r="http://schemas.openxmlformats.org/officeDocument/2006/relationships" id="2147483652" r:id="Rb3e1043f42e048eb"/>
    <p:sldLayoutId xmlns:r="http://schemas.openxmlformats.org/officeDocument/2006/relationships" id="2147483653" r:id="Rb90f07de5b2e4b66"/>
    <p:sldLayoutId xmlns:r="http://schemas.openxmlformats.org/officeDocument/2006/relationships" id="2147483654" r:id="Rb8bffe61435e4b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13f6f4e04f4005" /><Relationship Type="http://schemas.openxmlformats.org/officeDocument/2006/relationships/notesSlide" Target="/ppt/notesSlides/notesSlide1.xml" Id="R384fa370ebf145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8d354c9f748a4" /><Relationship Type="http://schemas.openxmlformats.org/officeDocument/2006/relationships/notesSlide" Target="/ppt/notesSlides/notesSlide2.xml" Id="R2d498b9cc5814f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1fc0f5c444b3a" /><Relationship Type="http://schemas.openxmlformats.org/officeDocument/2006/relationships/notesSlide" Target="/ppt/notesSlides/notesSlide3.xml" Id="R7d7fa6ab25b043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f589623b741db" /><Relationship Type="http://schemas.openxmlformats.org/officeDocument/2006/relationships/notesSlide" Target="/ppt/notesSlides/notesSlide4.xml" Id="R062d7fbcb30c40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1feb3673a4c63" /><Relationship Type="http://schemas.openxmlformats.org/officeDocument/2006/relationships/chart" Target="/ppt/slides/charts/chart1.xml" Id="R8a1a3249eb504f82" /><Relationship Type="http://schemas.openxmlformats.org/officeDocument/2006/relationships/notesSlide" Target="/ppt/notesSlides/notesSlide5.xml" Id="R3370e98ec7e24d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a45226a6f46a6" /><Relationship Type="http://schemas.openxmlformats.org/officeDocument/2006/relationships/notesSlide" Target="/ppt/notesSlides/notesSlide6.xml" Id="Rbd02563171e442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208ceb2334610" /><Relationship Type="http://schemas.openxmlformats.org/officeDocument/2006/relationships/chart" Target="/ppt/slides/charts/chart2.xml" Id="Rd2c5b87078a54356" /><Relationship Type="http://schemas.openxmlformats.org/officeDocument/2006/relationships/notesSlide" Target="/ppt/notesSlides/notesSlide7.xml" Id="R0f448e14921848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8635fe31c4f39" /><Relationship Type="http://schemas.openxmlformats.org/officeDocument/2006/relationships/notesSlide" Target="/ppt/notesSlides/notesSlide8.xml" Id="R12407fcd5e124d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0c01f823474cb6" /><Relationship Type="http://schemas.openxmlformats.org/officeDocument/2006/relationships/notesSlide" Target="/ppt/notesSlides/notesSlide9.xml" Id="Ra19af1e2caea4e7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FCFF / IDR bn</c:v>
          </c:tx>
          <c:spPr>
            <a:solidFill xmlns:a="http://schemas.openxmlformats.org/drawingml/2006/main">
              <a:srgbClr val="007D69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F1</c:v>
                </c:pt>
                <c:pt idx="1">
                  <c:v>F2</c:v>
                </c:pt>
                <c:pt idx="2">
                  <c:v>F3</c:v>
                </c:pt>
                <c:pt idx="3">
                  <c:v>F4</c:v>
                </c:pt>
                <c:pt idx="4">
                  <c:v>F5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312</c:v>
                </c:pt>
                <c:pt idx="1">
                  <c:v>395</c:v>
                </c:pt>
                <c:pt idx="2">
                  <c:v>502</c:v>
                </c:pt>
                <c:pt idx="3">
                  <c:v>580</c:v>
                </c:pt>
                <c:pt idx="4">
                  <c:v>704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E0D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Blended value / IDR per share</c:v>
          </c:tx>
          <c:spPr>
            <a:solidFill xmlns:a="http://schemas.openxmlformats.org/drawingml/2006/main">
              <a:srgbClr val="007D6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Bear</c:v>
                </c:pt>
                <c:pt idx="1">
                  <c:v>Base</c:v>
                </c:pt>
                <c:pt idx="2">
                  <c:v>Bull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</c:v>
                </c:pt>
                <c:pt idx="1">
                  <c:v>152</c:v>
                </c:pt>
                <c:pt idx="2">
                  <c:v>247</c:v>
                </c:pt>
              </c:numCache>
            </c:numRef>
          </c:val>
        </c:ser>
        <c:ser>
          <c:idx val="1"/>
          <c:order val="1"/>
          <c:tx>
            <c:v>Reference price / IDR per share</c:v>
          </c:tx>
          <c:spPr>
            <a:solidFill xmlns:a="http://schemas.openxmlformats.org/drawingml/2006/main">
              <a:srgbClr val="A8B6B0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Bear</c:v>
                </c:pt>
                <c:pt idx="1">
                  <c:v>Base</c:v>
                </c:pt>
                <c:pt idx="2">
                  <c:v>Bull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242</c:v>
                </c:pt>
                <c:pt idx="1">
                  <c:v>242</c:v>
                </c:pt>
                <c:pt idx="2">
                  <c:v>242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E0D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7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9E792-89EA-485C-B3CD-10724943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ED3B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ED3BD"/>
                </a:solidFill>
                <a:latin typeface="Arial"/>
                <a:ea typeface="Arial"/>
                <a:cs typeface="Arial"/>
              </a:rPr>
              <a:t>BUSINESS VALUATION MIDTERM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1113F-42C2-40E8-8207-72DF101B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3052D-EF50-4446-9D61-72162A36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6E8DF"/>
                </a:solidFill>
                <a:latin typeface="Arial"/>
                <a:ea typeface="Arial"/>
                <a:cs typeface="Arial"/>
              </a:rPr>
              <a:t>Valuation Intelligence, Scenario Testing</a:t>
            </a:r>
          </a:p>
          <a:p xmlns:a="http://schemas.openxmlformats.org/drawingml/2006/main">
            <a:pPr>
              <a:defRPr sz="2550" b="0">
                <a:solidFill>
                  <a:srgbClr val="D6E8D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6E8DF"/>
                </a:solidFill>
                <a:latin typeface="Arial"/>
                <a:ea typeface="Arial"/>
                <a:cs typeface="Arial"/>
              </a:rPr>
              <a:t>&amp; Approach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015C5-3364-4A60-AC2D-19A48064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PT Darma Henwa Tbk  /  IDX:DEWA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DAA06-FF31-4A46-8C6B-6E3AFE5D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Prepared by Ariel Arviano Putra · 29125401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352E5-FA53-4DDA-87DD-018C0C0F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9ED3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ED3BD"/>
                </a:solidFill>
                <a:latin typeface="Arial"/>
                <a:ea typeface="Arial"/>
                <a:cs typeface="Arial"/>
              </a:rPr>
              <a:t>Prepared 21 October 2026</a:t>
            </a:r>
          </a:p>
        </p:txBody>
      </p:sp>
    </p:spTree>
    <p:extLst>
      <p:ext uri="{BB962C8B-B14F-4D97-AF65-F5344CB8AC3E}">
        <p14:creationId xmlns:p14="http://schemas.microsoft.com/office/powerpoint/2010/main" val="2126992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A4BAA-E7AF-4E6A-8FF6-4FBEAE2C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VISTA / IDX:DEWA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7A030-2866-49B7-B070-447C73CC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73D"/>
                </a:solidFill>
                <a:latin typeface="Arial"/>
                <a:ea typeface="Arial"/>
                <a:cs typeface="Arial"/>
              </a:rPr>
              <a:t>A provisional valuation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555F8-8926-4BA2-A5F6-C648CFEC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Ariel Arviano Putra · 29125401 | 19 Oct 2026 · IDR bn unless stated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027DF-C9C2-4EF7-911D-FC064E81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D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A282C-78EB-423B-9E2B-6356F70B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Rp152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5FA41-4893-40DB-A6EB-102B416E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Base blended value per share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ED669-2498-4894-8819-59519DD2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000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Rp242 reference price</a:t>
            </a:r>
          </a:p>
          <a:p xmlns:a="http://schemas.openxmlformats.org/drawingml/2006/main">
            <a: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37% implied downside</a:t>
            </a:r>
          </a:p>
          <a:p xmlns:a="http://schemas.openxmlformats.org/drawingml/2006/main">
            <a:pPr>
              <a:defRPr sz="24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34/100 model confidence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3E1DC-A3D8-45D1-9A27-75977950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A65D38"/>
                </a:solidFill>
                <a:latin typeface="Arial"/>
                <a:ea typeface="Arial"/>
                <a:cs typeface="Arial"/>
              </a:rPr>
              <a:t>PROVISIONAL AVOID / REDUCE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BD66F-D1A8-4943-BBCE-C69E3F4D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The DCF and peer methods disagree. Capital spending and exploration recovery drive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810283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4A347-E4FF-47B3-9332-4580A602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VISTA / IDX:DEWA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4D08A-C7C6-4420-ABB2-C703C04B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73D"/>
                </a:solidFill>
                <a:latin typeface="Arial"/>
                <a:ea typeface="Arial"/>
                <a:cs typeface="Arial"/>
              </a:rPr>
              <a:t>Acquisition accounting dominates reported profit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DFABA-0855-456C-9636-9565B88F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Ariel Arviano Putra · 29125401 | 19 Oct 2026 · IDR bn unless stated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28E76-1B7D-4326-8E14-7491F5A2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D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F15E4-0A05-4117-9A82-A9AD94667B49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286750"/>
                <a:gridCol w="2667000"/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FY2025 item</a:t>
                      </a:r>
                    </a:p>
                  </a:txBody>
                  <a:tcPr marL="91440" marR="91440" marT="45720" marB="45720">
                    <a:solidFill>
                      <a:srgbClr val="DD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IDR bn</a:t>
                      </a:r>
                    </a:p>
                  </a:txBody>
                  <a:tcPr marL="91440" marR="91440" marT="45720" marB="45720">
                    <a:solidFill>
                      <a:srgbClr val="DDECE6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Noncash acquisition gain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4,535.4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Writeoffs, disposals and loss of control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(723.8)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Residual other losses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(74.8)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Reported other income, net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3,736.8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814C9-E455-46ED-BC25-83CC90F3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Recurring EBIT: Rp722.3bn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6E069-E9BF-4067-815A-B4F1E4C6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Operating components exclude the gain once. Reported net profit of Rp4,306.8bn does not anchor FCFF.</a:t>
            </a:r>
          </a:p>
        </p:txBody>
      </p:sp>
    </p:spTree>
    <p:extLst>
      <p:ext uri="{BB962C8B-B14F-4D97-AF65-F5344CB8AC3E}">
        <p14:creationId xmlns:p14="http://schemas.microsoft.com/office/powerpoint/2010/main" val="974556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17FB6-62D4-472F-A476-C2240144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VISTA / IDX:DEWA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E8B9C-F0EB-4D91-8569-393F269B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73D"/>
                </a:solidFill>
                <a:latin typeface="Arial"/>
                <a:ea typeface="Arial"/>
                <a:cs typeface="Arial"/>
              </a:rPr>
              <a:t>Four filings, one consistent source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06FC6-7EF1-45FD-94B5-697EC22C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Ariel Arviano Putra · 29125401 | 19 Oct 2026 · IDR bn unless stated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7E4AD-9E6E-4813-9C78-21AD4945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D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BB394-6349-4D79-B4AE-84BA16DC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2024 restatement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3632A-6736-4F3A-94A2-507DFD45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Assets and equity: −Rp272.1bn</a:t>
            </a:r>
          </a:p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Net profit: +Rp38.9bn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186E5-C9DB-4923-89CB-32C6EC15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2025 equity reclassification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80574-8C7F-418F-A8F9-4AFFC6BB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Rp2,110.0bn moves within equity.</a:t>
            </a:r>
          </a:p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Total equity stays unchanged.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B947-A15C-4EEF-9251-E58D9442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Corrected Q2 controls six-month history.</a:t>
            </a:r>
          </a:p>
          <a:p xmlns:a="http://schemas.openxmlformats.org/drawingml/2006/main">
            <a: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Standalone quarters use differences of cumulative reports.</a:t>
            </a:r>
          </a:p>
          <a:p xmlns:a="http://schemas.openxmlformats.org/drawingml/2006/main">
            <a:pPr>
              <a:defRPr sz="21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All inputs retain a file, page, unit and original value.</a:t>
            </a:r>
          </a:p>
        </p:txBody>
      </p:sp>
    </p:spTree>
    <p:extLst>
      <p:ext uri="{BB962C8B-B14F-4D97-AF65-F5344CB8AC3E}">
        <p14:creationId xmlns:p14="http://schemas.microsoft.com/office/powerpoint/2010/main" val="1163775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02493-0098-40B5-87C3-6D3A24CB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VISTA / IDX:DEWA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E0F8-59EA-49E1-9BE8-3EBCE69D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73D"/>
                </a:solidFill>
                <a:latin typeface="Arial"/>
                <a:ea typeface="Arial"/>
                <a:cs typeface="Arial"/>
              </a:rPr>
              <a:t>FCFF funds reinvestment before equity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F5CE6-BC4A-4104-A297-F34D9424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Ariel Arviano Putra · 29125401 | 19 Oct 2026 · IDR bn unless stated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08922-5D7E-4E51-9F38-44AB39F7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D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0E78E4C-161D-471F-AC45-865AE5215BA7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7048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1a3249eb504f8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A993F-79F2-4755-B581-EE156475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14% WACC</a:t>
            </a:r>
          </a:p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3.5% terminal growth</a:t>
            </a:r>
          </a:p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15% terminal ROIC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D5631-2DEB-4852-AE4E-C258B2FB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65D38"/>
                </a:solidFill>
                <a:latin typeface="Arial"/>
                <a:ea typeface="Arial"/>
                <a:cs typeface="Arial"/>
              </a:rPr>
              <a:t>72% of operating EV</a:t>
            </a:r>
          </a:p>
          <a:p xmlns:a="http://schemas.openxmlformats.org/drawingml/2006/main">
            <a:pPr>
              <a:defRPr sz="2025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65D38"/>
                </a:solidFill>
                <a:latin typeface="Arial"/>
                <a:ea typeface="Arial"/>
                <a:cs typeface="Arial"/>
              </a:rPr>
              <a:t>comes from terminal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6FAD7-18D2-455B-8226-B86C9188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Terminal FCFF = NOPAT × (1 − g / ROIC)</a:t>
            </a:r>
          </a:p>
        </p:txBody>
      </p:sp>
    </p:spTree>
    <p:extLst>
      <p:ext uri="{BB962C8B-B14F-4D97-AF65-F5344CB8AC3E}">
        <p14:creationId xmlns:p14="http://schemas.microsoft.com/office/powerpoint/2010/main" val="930327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F5FF9-1DA5-4CB8-B33B-5DD41B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VISTA / IDX:DEWA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FCF48-5B1E-42EB-A088-56A87CB2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73D"/>
                </a:solidFill>
                <a:latin typeface="Arial"/>
                <a:ea typeface="Arial"/>
                <a:cs typeface="Arial"/>
              </a:rPr>
              <a:t>The peer median is 5.335× EV/EBITDA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85242-975E-4717-8A57-1E954BAD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Ariel Arviano Putra · 29125401 | 19 Oct 2026 · IDR bn unless stated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B938D-B1DE-4F5A-989E-8D88AABB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D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F0C02-534D-41E3-83A5-3D58AA3A5221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53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809750"/>
                <a:gridCol w="7620000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Peer</a:t>
                      </a:r>
                    </a:p>
                  </a:txBody>
                  <a:tcPr marL="91440" marR="91440" marT="45720" marB="45720">
                    <a:solidFill>
                      <a:srgbClr val="DD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Multiple</a:t>
                      </a:r>
                    </a:p>
                  </a:txBody>
                  <a:tcPr marL="91440" marR="91440" marT="45720" marB="45720">
                    <a:solidFill>
                      <a:srgbClr val="DD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Screen result</a:t>
                      </a:r>
                    </a:p>
                  </a:txBody>
                  <a:tcPr marL="91440" marR="91440" marT="45720" marB="45720">
                    <a:solidFill>
                      <a:srgbClr val="DDECE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PTRO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12.74×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Core, EPC and offshore mix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MYOH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0.80×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Core, net cash affects EV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DOID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7.91×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Core, leverage and foreign exposure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UNIQ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2.76×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Core, smaller scale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UNTR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3.73×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73D"/>
                          </a:solidFill>
                          <a:latin typeface="Arial"/>
                          <a:ea typeface="Arial"/>
                          <a:cs typeface="Arial"/>
                        </a:rPr>
                        <a:t>Secondary, diversified business</a:t>
                      </a:r>
                    </a:p>
                  </a:txBody>
                  <a:tcPr marL="91440" marR="91440" marT="45720" marB="45720"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49104-26DC-4562-9C7B-B2D35CCC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Relative value: Rp209/share in the base case</a:t>
            </a:r>
          </a:p>
        </p:txBody>
      </p:sp>
    </p:spTree>
    <p:extLst>
      <p:ext uri="{BB962C8B-B14F-4D97-AF65-F5344CB8AC3E}">
        <p14:creationId xmlns:p14="http://schemas.microsoft.com/office/powerpoint/2010/main" val="1474891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9038B-71AC-4707-98F3-9C7EA497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VISTA / IDX:DEWA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CDA88-88AB-4923-87B5-95FFF67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73D"/>
                </a:solidFill>
                <a:latin typeface="Arial"/>
                <a:ea typeface="Arial"/>
                <a:cs typeface="Arial"/>
              </a:rPr>
              <a:t>Scenarios show a wide range of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C8FDB-EEA8-49B9-AA5D-D8748D9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Ariel Arviano Putra · 29125401 | 19 Oct 2026 · IDR bn unless stated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5CEE8-CD1C-4CEE-8691-2F1E7430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D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072FA4B-5B2C-48B1-A03C-4C490BF941FA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c5b87078a5435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14445-D4BD-4D66-98CF-80132D7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Probability-weighted value: Rp162.4/share</a:t>
            </a:r>
          </a:p>
        </p:txBody>
      </p:sp>
    </p:spTree>
    <p:extLst>
      <p:ext uri="{BB962C8B-B14F-4D97-AF65-F5344CB8AC3E}">
        <p14:creationId xmlns:p14="http://schemas.microsoft.com/office/powerpoint/2010/main" val="708055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CD705-56A9-41F3-80A4-1627143C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VISTA / IDX:DEWA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B53B3-15FC-4FFE-AEFA-AD400AB4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73D"/>
                </a:solidFill>
                <a:latin typeface="Arial"/>
                <a:ea typeface="Arial"/>
                <a:cs typeface="Arial"/>
              </a:rPr>
              <a:t>Suitability does not eliminate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F268B-7CBF-4257-814F-C8DBD47C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Ariel Arviano Putra · 29125401 | 19 Oct 2026 · IDR bn unless stated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DB0CA-FCA6-482F-BB92-91E6F82C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D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99041-3E68-4D8A-B73D-E133BEC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44% DCF</a:t>
            </a:r>
          </a:p>
          <a:p xmlns:a="http://schemas.openxmlformats.org/drawingml/2006/main">
            <a:pPr>
              <a:defRPr sz="367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56% relative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8BDE5-CEC9-404A-A6AA-A597AD36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A65D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65D38"/>
                </a:solidFill>
                <a:latin typeface="Arial"/>
                <a:ea typeface="Arial"/>
                <a:cs typeface="Arial"/>
              </a:rPr>
              <a:t>Confidence 34/100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F8EB7-16EC-478D-813D-FCDF5098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Peer dispersion</a:t>
            </a:r>
          </a:p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Unverified net share count</a:t>
            </a:r>
          </a:p>
          <a:p xmlns:a="http://schemas.openxmlformats.org/drawingml/2006/main">
            <a:pPr>
              <a:defRPr sz="217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Mine economics unavailable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21A20-5633-49DB-8083-28B29A56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DCF assumption range: P10 Rp26, P50 Rp71, P90 Rp122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8FEA0-1BB2-484E-9AC4-C9F90BE5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Simulation percentiles are assumption ranges, not statistical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347494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61D50-D4C1-44F6-9520-DC422194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VISTA / IDX:DEWA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8F2D0-1BC0-4A28-8DA9-7A28AD0C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73D"/>
                </a:solidFill>
                <a:latin typeface="Arial"/>
                <a:ea typeface="Arial"/>
                <a:cs typeface="Arial"/>
              </a:rPr>
              <a:t>What would change the recommendation?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26C85-53FD-457B-AA57-B97FE615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73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36C"/>
                </a:solidFill>
                <a:latin typeface="Arial"/>
                <a:ea typeface="Arial"/>
                <a:cs typeface="Arial"/>
              </a:rPr>
              <a:t>Ariel Arviano Putra · 29125401 | 19 Oct 2026 · IDR bn unless stated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E9FC5-2695-448E-B5FF-12FF037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D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BEECD-E154-498C-9AE0-0DEA29A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D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D69"/>
                </a:solidFill>
                <a:latin typeface="Arial"/>
                <a:ea typeface="Arial"/>
                <a:cs typeface="Arial"/>
              </a:rPr>
              <a:t>Higher support for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6C868-B2BA-4534-BE57-6F9F2E04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Verified mine economics</a:t>
            </a:r>
          </a:p>
          <a:p xmlns:a="http://schemas.openxmlformats.org/drawingml/2006/main">
            <a: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Sustained operating margins</a:t>
            </a:r>
          </a:p>
          <a:p xmlns:a="http://schemas.openxmlformats.org/drawingml/2006/main">
            <a: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Lower capital intensity</a:t>
            </a:r>
          </a:p>
          <a:p xmlns:a="http://schemas.openxmlformats.org/drawingml/2006/main">
            <a:pPr>
              <a:defRPr sz="225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Recoverable investment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E5CB4-8F47-419B-96BD-3D7910CD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73D"/>
                </a:solidFill>
                <a:latin typeface="Arial"/>
                <a:ea typeface="Arial"/>
                <a:cs typeface="Arial"/>
              </a:rPr>
              <a:t>Evidence needed before relying on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48D1F-96C3-4A46-A686-BE98EBD9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514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Treasury-adjusted diluted shares</a:t>
            </a:r>
          </a:p>
          <a:p xmlns:a="http://schemas.openxmlformats.org/drawingml/2006/main">
            <a: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Matched peer EV and EBITDA</a:t>
            </a:r>
          </a:p>
          <a:p xmlns:a="http://schemas.openxmlformats.org/drawingml/2006/main">
            <a: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Lease and vendor-capex commitments</a:t>
            </a:r>
          </a:p>
          <a:p xmlns:a="http://schemas.openxmlformats.org/drawingml/2006/main">
            <a:pPr>
              <a:defRPr sz="2100" b="0">
                <a:solidFill>
                  <a:srgbClr val="1237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73D"/>
                </a:solidFill>
                <a:latin typeface="Arial"/>
                <a:ea typeface="Arial"/>
                <a:cs typeface="Arial"/>
              </a:rPr>
              <a:t>Project funding and tax effects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8D083-8A52-4108-8C49-69743A0A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65D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65D38"/>
                </a:solidFill>
                <a:latin typeface="Arial"/>
                <a:ea typeface="Arial"/>
                <a:cs typeface="Arial"/>
              </a:rPr>
              <a:t>Current conclusion remains provisional. The workbook and app expose every material assumption.</a:t>
            </a:r>
          </a:p>
        </p:txBody>
      </p:sp>
    </p:spTree>
    <p:extLst>
      <p:ext uri="{BB962C8B-B14F-4D97-AF65-F5344CB8AC3E}">
        <p14:creationId xmlns:p14="http://schemas.microsoft.com/office/powerpoint/2010/main" val="750854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2026-10-21T16:11:57.1560000Z</dcterms:created>
  <dcterms:modified xsi:type="dcterms:W3CDTF">2026-10-21T16:11:57.1560000Z</dcterms:modified>
</coreProperties>
</file>